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today we're learning about lists in Python, one of the most useful tools for organizing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roadmap for today — five short stops from the basics to a couple of handy shortcuts.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start with what a list actually is and how to make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square-bracket syntax and point out that items are comma-separated.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Lists aren't picky — they can hold any type, and even mix types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that we can make a list, let's pull individual items back out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 beginner gotcha: counting starts at zero, not one. Also mention negative indexes.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pausing on — this trips up nearly every new programmer at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Slicing grabs a range at once — emphasize the stop index is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Lists aren't fixed — we can add and remove items after creating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 adds to the end; insert lets you choose the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remove takes a value; pop takes a position and hands the item back to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let's do something useful with a whole list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 loop is the natural way to visit every item — no manual index tracking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 and reverse change the list in place; sorted() gives you a new list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more tools worth knowing as you get comfortable with 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compact way to build a list from a loop — same idea, fewer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reference sheet to keep handy as you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encouraging practice — building their own list is the best way to make it 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5433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Lists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143500"/>
            <a:ext cx="944407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Store, access, and organize collections of values — one of the most useful tools you'll learn as a new programmer.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551259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143000" y="3200400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4571702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869382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59905" y="3764905"/>
            <a:ext cx="2067505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43000" y="5943005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5240685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59905" y="5136207"/>
            <a:ext cx="2687315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Items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143000" y="7314307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6611987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59905" y="6507510"/>
            <a:ext cx="2862486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a List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143000" y="8685609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7983289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59905" y="7878812"/>
            <a:ext cx="3413046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Lists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143000" y="10056912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9354592"/>
            <a:ext cx="335905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59905" y="9250114"/>
            <a:ext cx="1619265" cy="299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778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Up</a:t>
            </a:r>
            <a:endParaRPr lang="en-US" sz="3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3216265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Basics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BASICS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List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163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is a collection of values, written inside square brackets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each item with a comma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a name, just like any other variable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5544741"/>
            <a:ext cx="16002000" cy="96009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5544741"/>
            <a:ext cx="38100" cy="96009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811441"/>
            <a:ext cx="15758160" cy="46479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["apple", "banana", "cherry"]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BASICS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Go Inside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single type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3931741"/>
            <a:ext cx="854964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Numbers, words, or true/false values — all fit in a list.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4190851"/>
            <a:ext cx="3269903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209901"/>
            <a:ext cx="3177500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[88, 92, 79]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3726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726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types, even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372600" y="3931741"/>
            <a:ext cx="854964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can hold different types side by side, if you need it to.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72600" y="4190851"/>
            <a:ext cx="3856434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13" name="Text 11"/>
          <p:cNvSpPr/>
          <p:nvPr/>
        </p:nvSpPr>
        <p:spPr>
          <a:xfrm>
            <a:off x="9467850" y="4209901"/>
            <a:ext cx="3781627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 = ["Ana", 25, True]</a:t>
            </a:r>
            <a:endParaRPr lang="en-US" sz="2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4192965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Items</a:t>
            </a:r>
            <a:endParaRPr lang="en-US" sz="4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READING ITEMS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163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item in a list has a position, called an index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starts counting at 0, not 1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indexes count backward from the end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5544741"/>
            <a:ext cx="16002000" cy="181347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5544741"/>
            <a:ext cx="38100" cy="181347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811441"/>
            <a:ext cx="15758160" cy="13181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 = ["red", "green", "blue"]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colors[0]     # "red"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colors[-1]    # "blue"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READING ITEMS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35223" y="2819400"/>
            <a:ext cx="17940754" cy="308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953"/>
              </a:lnSpc>
              <a:buNone/>
            </a:pPr>
            <a:r>
              <a:rPr lang="en-US" sz="24000" b="1" spc="-480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1143000" y="6324600"/>
            <a:ext cx="787006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lists start counting here — colors[0] is the first item, not the second.</a:t>
            </a:r>
            <a:endParaRPr lang="en-US" sz="2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READING ITEMS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163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slice grabs a range of items at once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start is included, the stop is not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either side blank to go to the start or the end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5544741"/>
            <a:ext cx="16002000" cy="181347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5544741"/>
            <a:ext cx="38100" cy="1813471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811441"/>
            <a:ext cx="15758160" cy="131817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colors[1:3]   # "green", "blue"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colors[:2]    # from the start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colors[1:]    # to the end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423220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4509090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a List</a:t>
            </a:r>
            <a:endParaRPr lang="en-US" sz="4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CHANGING A LIST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Items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append()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3931741"/>
            <a:ext cx="854964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one item to the end of the list.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4190851"/>
            <a:ext cx="3416498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209901"/>
            <a:ext cx="3328493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fruits.append("mango")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3726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726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insert()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372600" y="3931741"/>
            <a:ext cx="854964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an item at a specific position.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72600" y="4190851"/>
            <a:ext cx="3856434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13" name="Text 11"/>
          <p:cNvSpPr/>
          <p:nvPr/>
        </p:nvSpPr>
        <p:spPr>
          <a:xfrm>
            <a:off x="9467850" y="4209901"/>
            <a:ext cx="3781627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fruits.insert(0, "mango")</a:t>
            </a:r>
            <a:endParaRPr lang="en-US" sz="2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CHANGING A LIST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Items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remove()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3931741"/>
            <a:ext cx="854964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the first item that matches a value.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4190851"/>
            <a:ext cx="3563094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209901"/>
            <a:ext cx="3479487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fruits.remove("banana")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3726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726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pop()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372600" y="3931741"/>
            <a:ext cx="854964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an item by position and returns it.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72600" y="4190851"/>
            <a:ext cx="1950095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13" name="Text 11"/>
          <p:cNvSpPr/>
          <p:nvPr/>
        </p:nvSpPr>
        <p:spPr>
          <a:xfrm>
            <a:off x="9467850" y="4209901"/>
            <a:ext cx="1835795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fruits.pop()</a:t>
            </a:r>
            <a:endParaRPr lang="en-US" sz="2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5358750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Lists</a:t>
            </a:r>
            <a:endParaRPr lang="en-US" sz="4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WORKING WITH LISTS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Looping Over a List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 loop visits every item, one at a time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hands you each item directly — no index needed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fruit in fruits: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print(fruit)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WORKING WITH LISTS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Sorting and Reversing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sort()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3931741"/>
            <a:ext cx="854964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Puts items in order, smallest to largest.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4190851"/>
            <a:ext cx="2243435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209901"/>
            <a:ext cx="2129135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numbers.sort()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372600" y="3190875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72600" y="3425577"/>
            <a:ext cx="8549640" cy="270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reverse()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372600" y="3931741"/>
            <a:ext cx="8549640" cy="2210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Flips the current order of the list.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372600" y="4190851"/>
            <a:ext cx="2683371" cy="451396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13" name="Text 11"/>
          <p:cNvSpPr/>
          <p:nvPr/>
        </p:nvSpPr>
        <p:spPr>
          <a:xfrm>
            <a:off x="9467850" y="4209901"/>
            <a:ext cx="2573372" cy="45139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1515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numbers.reverse()</a:t>
            </a:r>
            <a:endParaRPr lang="en-US" sz="2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C30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1677" y="3467844"/>
            <a:ext cx="2921258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934"/>
              </a:lnSpc>
              <a:buNone/>
            </a:pPr>
            <a:r>
              <a:rPr lang="en-US" sz="19500" b="1" spc="-39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07728" y="6153894"/>
            <a:ext cx="256616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Up</a:t>
            </a:r>
            <a:endParaRPr lang="en-US" sz="4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LEVEL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Comprehensions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6305" y="3206800"/>
            <a:ext cx="12685395" cy="946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shortcut for building a list from a loop, in one line</a:t>
            </a:r>
            <a:endParaRPr lang="en-US" sz="2550" dirty="0"/>
          </a:p>
          <a:p>
            <a:pPr algn="l" indent="0" marL="0">
              <a:lnSpc>
                <a:spcPct val="123077"/>
              </a:lnSpc>
              <a:buNone/>
            </a:pPr>
            <a:r>
              <a:rPr lang="en-US" sz="25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result as a loop with append — just more compact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858941"/>
            <a:ext cx="16002000" cy="1386780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58941"/>
            <a:ext cx="38100" cy="138678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125641"/>
            <a:ext cx="15758160" cy="8914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squares = [n * n for n in range(5)]</a:t>
            </a:r>
            <a:endParaRPr lang="en-US" sz="2100" dirty="0"/>
          </a:p>
          <a:p>
            <a:pPr algn="l" indent="0" marL="0">
              <a:lnSpc>
                <a:spcPct val="135758"/>
              </a:lnSpc>
              <a:buNone/>
            </a:pPr>
            <a:r>
              <a:rPr lang="en-US" sz="2100" dirty="0">
                <a:solidFill>
                  <a:srgbClr val="201E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[0, 1, 4, 9, 16]</a:t>
            </a:r>
            <a:endParaRPr lang="en-US" sz="2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LEVEL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07728" y="1849338"/>
            <a:ext cx="17640999" cy="4747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spc="-72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List Methods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3602236"/>
            <a:ext cx="3871913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333750"/>
            <a:ext cx="3759470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14913" y="3602236"/>
            <a:ext cx="12130088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243513" y="3333750"/>
            <a:ext cx="12265390" cy="192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4043660"/>
            <a:ext cx="387191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745111"/>
            <a:ext cx="3759470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append(x)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014913" y="4043660"/>
            <a:ext cx="12130088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243513" y="3745111"/>
            <a:ext cx="12265390" cy="212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x to the end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4470797"/>
            <a:ext cx="387191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177010"/>
            <a:ext cx="3759470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insert(i, x)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014913" y="4470797"/>
            <a:ext cx="12130088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243513" y="4177010"/>
            <a:ext cx="12265390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x at index i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4897934"/>
            <a:ext cx="387191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604147"/>
            <a:ext cx="3759470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remove(x)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014913" y="4897934"/>
            <a:ext cx="12130088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243513" y="4604147"/>
            <a:ext cx="12265390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the first x found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143000" y="5325070"/>
            <a:ext cx="387191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5031284"/>
            <a:ext cx="3759470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pop(i)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5014913" y="5325070"/>
            <a:ext cx="12130088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243513" y="5031284"/>
            <a:ext cx="12265390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and return the item at index i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143000" y="5752207"/>
            <a:ext cx="387191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5458420"/>
            <a:ext cx="3759470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sort()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5014913" y="5752207"/>
            <a:ext cx="12130088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243513" y="5458420"/>
            <a:ext cx="12265390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the list in place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143000" y="6179344"/>
            <a:ext cx="387191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5885557"/>
            <a:ext cx="3759470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reverse()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5014913" y="6179344"/>
            <a:ext cx="12130088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243513" y="5885557"/>
            <a:ext cx="12265390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the list in place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143000" y="6606480"/>
            <a:ext cx="3871913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" y="6312694"/>
            <a:ext cx="3759470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len(list)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5014913" y="6606480"/>
            <a:ext cx="12130088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243513" y="6312694"/>
            <a:ext cx="12265390" cy="208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items in the list</a:t>
            </a:r>
            <a:endParaRPr lang="en-US" sz="195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987135"/>
            <a:ext cx="2552998" cy="15686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28935"/>
            <a:ext cx="176022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FOR BEGINNERS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74539" y="3771900"/>
            <a:ext cx="1767750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8966"/>
              </a:lnSpc>
              <a:buNone/>
            </a:pPr>
            <a:r>
              <a:rPr lang="en-US" sz="9300" b="1" spc="-18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Try It</a:t>
            </a:r>
            <a:endParaRPr lang="en-US" sz="9300" dirty="0"/>
          </a:p>
        </p:txBody>
      </p:sp>
      <p:sp>
        <p:nvSpPr>
          <p:cNvPr id="4" name="Text 2"/>
          <p:cNvSpPr/>
          <p:nvPr/>
        </p:nvSpPr>
        <p:spPr>
          <a:xfrm>
            <a:off x="1143000" y="5372100"/>
            <a:ext cx="944407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30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by building your own — a shopping list, a to-do list, or a list of your favorite movies.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8987135"/>
            <a:ext cx="1625977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92611" y="8987135"/>
            <a:ext cx="152400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0261" y="8987135"/>
            <a:ext cx="551259" cy="194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2026-08-21T00:02:17Z</dcterms:created>
  <dcterms:modified xsi:type="dcterms:W3CDTF">2026-08-21T00:02:17Z</dcterms:modified>
</cp:coreProperties>
</file>