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— today we're building a very simple movie recommender using nothing but lists.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Here's our roadmap — store the movies, add genres alongside them, then let the player ask for a recommendation.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Let's start with the simplest possible database — a list of movie titles.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one list is our whole movie catalog for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plain list of titles can't say what genre each movie is — a second list, matched by position, can.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dictionaries yet — just a second list, kept in the same order as the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range(len(...)) gives us an index we can use on both lists inside the same loop.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Let's turn that fixed check into something the player controls with input().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matching pattern as before, but the genre we're checking for now comes from the player.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Let's see the movies list, the genres list, and the matching loop all working together.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through it top to bottom — two lists kept in matching order, an input for the player's genre, and a loop that prints every title that fits.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Wrap up by encouraging practice — adding more movies and genres to the two lists is the best way to make it stick.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935"/>
            <a:ext cx="176022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FOR BEGINNERS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74539" y="3200400"/>
            <a:ext cx="16552575" cy="2324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8966"/>
              </a:lnSpc>
              <a:buNone/>
            </a:pPr>
            <a:r>
              <a:rPr lang="en-US" sz="9300" b="1" spc="-186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Movie Recommender: Basic</a:t>
            </a:r>
            <a:endParaRPr lang="en-US" sz="9300" dirty="0"/>
          </a:p>
        </p:txBody>
      </p:sp>
      <p:sp>
        <p:nvSpPr>
          <p:cNvPr id="4" name="Text 2"/>
          <p:cNvSpPr/>
          <p:nvPr/>
        </p:nvSpPr>
        <p:spPr>
          <a:xfrm>
            <a:off x="1143000" y="5943600"/>
            <a:ext cx="9444073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30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simple recommender using nothing but lists — no functions, no dictionaries.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43000" y="8987135"/>
            <a:ext cx="1625977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 to Python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792611" y="8987135"/>
            <a:ext cx="1524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040261" y="8987135"/>
            <a:ext cx="1446222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Guided Build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7728" y="1849338"/>
            <a:ext cx="17640999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spc="-72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143000" y="3200400"/>
            <a:ext cx="104775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43000" y="4571702"/>
            <a:ext cx="104775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3869382"/>
            <a:ext cx="335905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859905" y="3764905"/>
            <a:ext cx="4255011" cy="2994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30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Storing Movies in a List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1143000" y="5943005"/>
            <a:ext cx="104775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5240685"/>
            <a:ext cx="335905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859905" y="5136207"/>
            <a:ext cx="3288625" cy="2994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30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Filtering by Genre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1143000" y="7314307"/>
            <a:ext cx="104775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6611987"/>
            <a:ext cx="335905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859905" y="6507510"/>
            <a:ext cx="5105489" cy="2994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30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Picking a Recommendation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1143000" y="8685609"/>
            <a:ext cx="104775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7983289"/>
            <a:ext cx="335905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859905" y="7878812"/>
            <a:ext cx="4354875" cy="2994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30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Full Recommender</a:t>
            </a:r>
            <a:endParaRPr lang="en-US" sz="30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8987135"/>
            <a:ext cx="2423220" cy="15686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C30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1677" y="3467844"/>
            <a:ext cx="2921258" cy="2266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3934"/>
              </a:lnSpc>
              <a:buNone/>
            </a:pPr>
            <a:r>
              <a:rPr lang="en-US" sz="19500" b="1" spc="-390" kern="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9500" dirty="0"/>
          </a:p>
        </p:txBody>
      </p:sp>
      <p:sp>
        <p:nvSpPr>
          <p:cNvPr id="3" name="Text 1"/>
          <p:cNvSpPr/>
          <p:nvPr/>
        </p:nvSpPr>
        <p:spPr>
          <a:xfrm>
            <a:off x="1107728" y="6153894"/>
            <a:ext cx="6690866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spc="-72" kern="0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Storing Movies in a List</a:t>
            </a:r>
            <a:endParaRPr lang="en-US" sz="4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935"/>
            <a:ext cx="176022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STORING MOVIES IN A LIST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7728" y="1849338"/>
            <a:ext cx="17640999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spc="-72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List of Movies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6305" y="3206800"/>
            <a:ext cx="12685395" cy="946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077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list of titles is the whole "database" for our basic recommender</a:t>
            </a:r>
            <a:endParaRPr lang="en-US" sz="2550" dirty="0"/>
          </a:p>
          <a:p>
            <a:pPr algn="l" indent="0" marL="0">
              <a:lnSpc>
                <a:spcPct val="123077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movie we might recommend lives in this one list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1143000" y="4858941"/>
            <a:ext cx="16002000" cy="960090"/>
          </a:xfrm>
          <a:prstGeom prst="rect">
            <a:avLst/>
          </a:prstGeom>
          <a:solidFill>
            <a:srgbClr val="EAE9E9"/>
          </a:solidFill>
          <a:ln/>
        </p:spPr>
      </p:sp>
      <p:sp>
        <p:nvSpPr>
          <p:cNvPr id="6" name="Shape 4"/>
          <p:cNvSpPr/>
          <p:nvPr/>
        </p:nvSpPr>
        <p:spPr>
          <a:xfrm>
            <a:off x="1143000" y="4858941"/>
            <a:ext cx="38100" cy="960090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7" name="Text 5"/>
          <p:cNvSpPr/>
          <p:nvPr/>
        </p:nvSpPr>
        <p:spPr>
          <a:xfrm>
            <a:off x="1524000" y="5125641"/>
            <a:ext cx="15758160" cy="46479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movies = ["The Martian", "Inside Out", "Mad Max: Fury Road", "Coco"]</a:t>
            </a:r>
            <a:endParaRPr lang="en-US" sz="21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8987135"/>
            <a:ext cx="2423220" cy="15686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C30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1677" y="3467844"/>
            <a:ext cx="2921258" cy="2266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3934"/>
              </a:lnSpc>
              <a:buNone/>
            </a:pPr>
            <a:r>
              <a:rPr lang="en-US" sz="19500" b="1" spc="-390" kern="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9500" dirty="0"/>
          </a:p>
        </p:txBody>
      </p:sp>
      <p:sp>
        <p:nvSpPr>
          <p:cNvPr id="3" name="Text 1"/>
          <p:cNvSpPr/>
          <p:nvPr/>
        </p:nvSpPr>
        <p:spPr>
          <a:xfrm>
            <a:off x="1107728" y="6153894"/>
            <a:ext cx="5148545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spc="-72" kern="0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Filtering by Genre</a:t>
            </a:r>
            <a:endParaRPr lang="en-US" sz="4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935"/>
            <a:ext cx="176022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FILTERING BY GENRE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7728" y="1849338"/>
            <a:ext cx="17640999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spc="-72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Second List for Genres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6305" y="3206800"/>
            <a:ext cx="12685395" cy="946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077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genres in a second list, in the same order as the movies list</a:t>
            </a:r>
            <a:endParaRPr lang="en-US" sz="2550" dirty="0"/>
          </a:p>
          <a:p>
            <a:pPr algn="l" indent="0" marL="0">
              <a:lnSpc>
                <a:spcPct val="123077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movies[i] and genres[i] describe the same movie, at the same position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1143000" y="4858941"/>
            <a:ext cx="16002000" cy="1386780"/>
          </a:xfrm>
          <a:prstGeom prst="rect">
            <a:avLst/>
          </a:prstGeom>
          <a:solidFill>
            <a:srgbClr val="EAE9E9"/>
          </a:solidFill>
          <a:ln/>
        </p:spPr>
      </p:sp>
      <p:sp>
        <p:nvSpPr>
          <p:cNvPr id="6" name="Shape 4"/>
          <p:cNvSpPr/>
          <p:nvPr/>
        </p:nvSpPr>
        <p:spPr>
          <a:xfrm>
            <a:off x="1143000" y="4858941"/>
            <a:ext cx="38100" cy="1386780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7" name="Text 5"/>
          <p:cNvSpPr/>
          <p:nvPr/>
        </p:nvSpPr>
        <p:spPr>
          <a:xfrm>
            <a:off x="1524000" y="5125641"/>
            <a:ext cx="15758160" cy="8914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movies = ["The Martian", "Inside Out", "Mad Max: Fury Road", "Coco"]</a:t>
            </a:r>
            <a:endParaRPr lang="en-US" sz="2100" dirty="0"/>
          </a:p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genres = ["sci-fi", "animation", "action", "animation"]</a:t>
            </a:r>
            <a:endParaRPr lang="en-US" sz="21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8987135"/>
            <a:ext cx="2423220" cy="15686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935"/>
            <a:ext cx="176022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FILTERING BY GENRE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7728" y="1849338"/>
            <a:ext cx="17640999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spc="-72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Matching Two Lists Together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6305" y="3206800"/>
            <a:ext cx="12685395" cy="946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077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range(len(movies)) gives an index for both lists at once</a:t>
            </a:r>
            <a:endParaRPr lang="en-US" sz="2550" dirty="0"/>
          </a:p>
          <a:p>
            <a:pPr algn="l" indent="0" marL="0">
              <a:lnSpc>
                <a:spcPct val="123077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the genre at that index, then print the matching movie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1143000" y="4858941"/>
            <a:ext cx="16002000" cy="1813471"/>
          </a:xfrm>
          <a:prstGeom prst="rect">
            <a:avLst/>
          </a:prstGeom>
          <a:solidFill>
            <a:srgbClr val="EAE9E9"/>
          </a:solidFill>
          <a:ln/>
        </p:spPr>
      </p:sp>
      <p:sp>
        <p:nvSpPr>
          <p:cNvPr id="6" name="Shape 4"/>
          <p:cNvSpPr/>
          <p:nvPr/>
        </p:nvSpPr>
        <p:spPr>
          <a:xfrm>
            <a:off x="1143000" y="4858941"/>
            <a:ext cx="38100" cy="1813471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7" name="Text 5"/>
          <p:cNvSpPr/>
          <p:nvPr/>
        </p:nvSpPr>
        <p:spPr>
          <a:xfrm>
            <a:off x="1524000" y="5125641"/>
            <a:ext cx="15758160" cy="131817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range(len(movies)):</a:t>
            </a:r>
            <a:endParaRPr lang="en-US" sz="2100" dirty="0"/>
          </a:p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genres[i] == "animation":</a:t>
            </a:r>
            <a:endParaRPr lang="en-US" sz="2100" dirty="0"/>
          </a:p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print(movies[i])</a:t>
            </a:r>
            <a:endParaRPr lang="en-US" sz="21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8987135"/>
            <a:ext cx="2423220" cy="15686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C30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1677" y="3467844"/>
            <a:ext cx="2921258" cy="2266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3934"/>
              </a:lnSpc>
              <a:buNone/>
            </a:pPr>
            <a:r>
              <a:rPr lang="en-US" sz="19500" b="1" spc="-390" kern="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9500" dirty="0"/>
          </a:p>
        </p:txBody>
      </p:sp>
      <p:sp>
        <p:nvSpPr>
          <p:cNvPr id="3" name="Text 1"/>
          <p:cNvSpPr/>
          <p:nvPr/>
        </p:nvSpPr>
        <p:spPr>
          <a:xfrm>
            <a:off x="1107728" y="6153894"/>
            <a:ext cx="7921317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spc="-72" kern="0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Picking a Recommendation</a:t>
            </a:r>
            <a:endParaRPr lang="en-US" sz="4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935"/>
            <a:ext cx="176022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PICKING A RECOMMENDATION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7728" y="1849338"/>
            <a:ext cx="17640999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spc="-72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Asking for a Favorite Genre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6305" y="3206800"/>
            <a:ext cx="12685395" cy="946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077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the player what genre they're in the mood for</a:t>
            </a:r>
            <a:endParaRPr lang="en-US" sz="2550" dirty="0"/>
          </a:p>
          <a:p>
            <a:pPr algn="l" indent="0" marL="0">
              <a:lnSpc>
                <a:spcPct val="123077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 through both lists and print every movie that matches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1143000" y="4858941"/>
            <a:ext cx="16002000" cy="2240161"/>
          </a:xfrm>
          <a:prstGeom prst="rect">
            <a:avLst/>
          </a:prstGeom>
          <a:solidFill>
            <a:srgbClr val="EAE9E9"/>
          </a:solidFill>
          <a:ln/>
        </p:spPr>
      </p:sp>
      <p:sp>
        <p:nvSpPr>
          <p:cNvPr id="6" name="Shape 4"/>
          <p:cNvSpPr/>
          <p:nvPr/>
        </p:nvSpPr>
        <p:spPr>
          <a:xfrm>
            <a:off x="1143000" y="4858941"/>
            <a:ext cx="38100" cy="2240161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7" name="Text 5"/>
          <p:cNvSpPr/>
          <p:nvPr/>
        </p:nvSpPr>
        <p:spPr>
          <a:xfrm>
            <a:off x="1524000" y="5125641"/>
            <a:ext cx="15758160" cy="174486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favorite = input("What genre are you in the mood for? ")</a:t>
            </a:r>
            <a:endParaRPr lang="en-US" sz="2100" dirty="0"/>
          </a:p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range(len(movies)):</a:t>
            </a:r>
            <a:endParaRPr lang="en-US" sz="2100" dirty="0"/>
          </a:p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genres[i] == favorite:</a:t>
            </a:r>
            <a:endParaRPr lang="en-US" sz="2100" dirty="0"/>
          </a:p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print(movies[i])</a:t>
            </a:r>
            <a:endParaRPr lang="en-US" sz="21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8987135"/>
            <a:ext cx="2423220" cy="15686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C30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1677" y="3467844"/>
            <a:ext cx="2921258" cy="2266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3934"/>
              </a:lnSpc>
              <a:buNone/>
            </a:pPr>
            <a:r>
              <a:rPr lang="en-US" sz="19500" b="1" spc="-390" kern="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9500" dirty="0"/>
          </a:p>
        </p:txBody>
      </p:sp>
      <p:sp>
        <p:nvSpPr>
          <p:cNvPr id="3" name="Text 1"/>
          <p:cNvSpPr/>
          <p:nvPr/>
        </p:nvSpPr>
        <p:spPr>
          <a:xfrm>
            <a:off x="1107728" y="6153894"/>
            <a:ext cx="6805136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spc="-72" kern="0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Full Recommender</a:t>
            </a:r>
            <a:endParaRPr lang="en-US" sz="4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935"/>
            <a:ext cx="176022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THE FULL RECOMMENDER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7728" y="1849338"/>
            <a:ext cx="17640999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spc="-72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Whole Script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143000" y="3054400"/>
            <a:ext cx="16002000" cy="3070622"/>
          </a:xfrm>
          <a:prstGeom prst="rect">
            <a:avLst/>
          </a:prstGeom>
          <a:solidFill>
            <a:srgbClr val="EAE9E9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" y="3054400"/>
            <a:ext cx="38100" cy="3070622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6" name="Text 4"/>
          <p:cNvSpPr/>
          <p:nvPr/>
        </p:nvSpPr>
        <p:spPr>
          <a:xfrm>
            <a:off x="1466850" y="3263950"/>
            <a:ext cx="15872460" cy="268962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24286"/>
              </a:lnSpc>
              <a:buNone/>
            </a:pPr>
            <a:r>
              <a:rPr lang="en-US" sz="18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movies = ["The Martian", "Inside Out", "Mad Max: Fury Road", "Coco"]</a:t>
            </a:r>
            <a:endParaRPr lang="en-US" sz="1800" dirty="0"/>
          </a:p>
          <a:p>
            <a:pPr algn="l" indent="0" marL="0">
              <a:lnSpc>
                <a:spcPct val="124286"/>
              </a:lnSpc>
              <a:buNone/>
            </a:pPr>
            <a:r>
              <a:rPr lang="en-US" sz="18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genres = ["sci-fi", "animation", "action", "animation"]</a:t>
            </a:r>
            <a:endParaRPr lang="en-US" sz="1800" dirty="0"/>
          </a:p>
          <a:p>
            <a:pPr algn="l" indent="0" marL="0">
              <a:lnSpc>
                <a:spcPct val="124286"/>
              </a:lnSpc>
              <a:buNone/>
            </a:pPr>
            <a:endParaRPr lang="en-US" sz="1800" dirty="0"/>
          </a:p>
          <a:p>
            <a:pPr algn="l" indent="0" marL="0">
              <a:lnSpc>
                <a:spcPct val="124286"/>
              </a:lnSpc>
              <a:buNone/>
            </a:pPr>
            <a:r>
              <a:rPr lang="en-US" sz="18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favorite = input("What genre are you in the mood for? ")</a:t>
            </a:r>
            <a:endParaRPr lang="en-US" sz="1800" dirty="0"/>
          </a:p>
          <a:p>
            <a:pPr algn="l" indent="0" marL="0">
              <a:lnSpc>
                <a:spcPct val="124286"/>
              </a:lnSpc>
              <a:buNone/>
            </a:pPr>
            <a:r>
              <a:rPr lang="en-US" sz="18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print("You might like:")</a:t>
            </a:r>
            <a:endParaRPr lang="en-US" sz="1800" dirty="0"/>
          </a:p>
          <a:p>
            <a:pPr algn="l" indent="0" marL="0">
              <a:lnSpc>
                <a:spcPct val="124286"/>
              </a:lnSpc>
              <a:buNone/>
            </a:pPr>
            <a:r>
              <a:rPr lang="en-US" sz="18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range(len(movies)):</a:t>
            </a:r>
            <a:endParaRPr lang="en-US" sz="1800" dirty="0"/>
          </a:p>
          <a:p>
            <a:pPr algn="l" indent="0" marL="0">
              <a:lnSpc>
                <a:spcPct val="124286"/>
              </a:lnSpc>
              <a:buNone/>
            </a:pPr>
            <a:r>
              <a:rPr lang="en-US" sz="18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genres[i] == favorite:</a:t>
            </a:r>
            <a:endParaRPr lang="en-US" sz="1800" dirty="0"/>
          </a:p>
          <a:p>
            <a:pPr algn="l" indent="0" marL="0">
              <a:lnSpc>
                <a:spcPct val="124286"/>
              </a:lnSpc>
              <a:buNone/>
            </a:pPr>
            <a:r>
              <a:rPr lang="en-US" sz="18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print("-", movies[i])</a:t>
            </a:r>
            <a:endParaRPr lang="en-US" sz="18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8987135"/>
            <a:ext cx="2552998" cy="15686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935"/>
            <a:ext cx="176022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FOR BEGINNERS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74539" y="3771900"/>
            <a:ext cx="17677507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8966"/>
              </a:lnSpc>
              <a:buNone/>
            </a:pPr>
            <a:r>
              <a:rPr lang="en-US" sz="9300" b="1" spc="-186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Try It</a:t>
            </a:r>
            <a:endParaRPr lang="en-US" sz="9300" dirty="0"/>
          </a:p>
        </p:txBody>
      </p:sp>
      <p:sp>
        <p:nvSpPr>
          <p:cNvPr id="4" name="Text 2"/>
          <p:cNvSpPr/>
          <p:nvPr/>
        </p:nvSpPr>
        <p:spPr>
          <a:xfrm>
            <a:off x="1143000" y="5372100"/>
            <a:ext cx="9444073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30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 by adding your own movies and genres to the two lists, and try a few different searches.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43000" y="8987135"/>
            <a:ext cx="1625977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 to Python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792611" y="8987135"/>
            <a:ext cx="1524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040261" y="8987135"/>
            <a:ext cx="1446222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Guided Build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2026-08-21T00:40:07Z</dcterms:created>
  <dcterms:modified xsi:type="dcterms:W3CDTF">2026-08-21T00:40:07Z</dcterms:modified>
</cp:coreProperties>
</file>