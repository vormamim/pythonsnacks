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covering the everyday operators and operations that show up in nearly every Python line you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arithmetic first, then shortcuts, comparisons and logic, and finally strings.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the operators that do math on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the seven arithmetic operators, pointing out that ** is less familiar to beginners.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trips people up — / always gives a float, // drops the remainder.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a set of shortcuts for the very common pattern of updating a variable using its own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longhand and shorthand side by side, then note it works for every arithmetic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operators produce True or False, and are the building blocks of every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reference table for comparing two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combine or flip conditions — cover each briefly with a short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couple of the arithmetic-looking operators behave differently on strings — and one dedicated tool for building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 and * work on strings too, just with a different meaning than on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f-strings are the modern, readable way to drop variables into text — worth introducing here even though it's not a symbol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trying each operator in a small script is the best way to make it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and Operations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everyday symbols that do the math, the comparing, and the combining in your code.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100138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387094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Operators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4126498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Shortcuts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4178067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and Logic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3264887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Operations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947618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Operators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ARITHMETIC OPERATORS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 Operators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602236"/>
            <a:ext cx="4494907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333750"/>
            <a:ext cx="4401154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37907" y="3602236"/>
            <a:ext cx="7561511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866507" y="3333750"/>
            <a:ext cx="7331156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199418" y="3602236"/>
            <a:ext cx="3945582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428018" y="3333750"/>
            <a:ext cx="3835350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4043660"/>
            <a:ext cx="44949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45111"/>
            <a:ext cx="4401154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637907" y="4043660"/>
            <a:ext cx="756151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66507" y="3745111"/>
            <a:ext cx="7331156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199418" y="4043660"/>
            <a:ext cx="39455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428018" y="3745111"/>
            <a:ext cx="3835350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+ 2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470797"/>
            <a:ext cx="44949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177010"/>
            <a:ext cx="440115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637907" y="4470797"/>
            <a:ext cx="756151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866507" y="4177010"/>
            <a:ext cx="733115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Subtraction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3199418" y="4470797"/>
            <a:ext cx="39455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428018" y="4177010"/>
            <a:ext cx="383535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3 - 2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43000" y="4897934"/>
            <a:ext cx="44949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604147"/>
            <a:ext cx="440115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637907" y="4897934"/>
            <a:ext cx="756151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866507" y="4604147"/>
            <a:ext cx="733115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3199418" y="4897934"/>
            <a:ext cx="39455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428018" y="4604147"/>
            <a:ext cx="383535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* 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3000" y="5325070"/>
            <a:ext cx="44949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5031284"/>
            <a:ext cx="440115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637907" y="5325070"/>
            <a:ext cx="756151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866507" y="5031284"/>
            <a:ext cx="733115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3199418" y="5325070"/>
            <a:ext cx="39455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3428018" y="5031284"/>
            <a:ext cx="383535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143000" y="5752207"/>
            <a:ext cx="44949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143000" y="5458420"/>
            <a:ext cx="440115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637907" y="5752207"/>
            <a:ext cx="756151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866507" y="5458420"/>
            <a:ext cx="733115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division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3199418" y="5752207"/>
            <a:ext cx="39455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3428018" y="5458420"/>
            <a:ext cx="383535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// 2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143000" y="6179344"/>
            <a:ext cx="44949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143000" y="5885557"/>
            <a:ext cx="440115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5637907" y="6179344"/>
            <a:ext cx="756151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866507" y="5885557"/>
            <a:ext cx="733115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Modulus (remainder)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3199418" y="6179344"/>
            <a:ext cx="39455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3428018" y="5885557"/>
            <a:ext cx="383535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3 % 2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143000" y="6606480"/>
            <a:ext cx="4494907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143000" y="6312694"/>
            <a:ext cx="440115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5637907" y="6606480"/>
            <a:ext cx="756151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866507" y="6312694"/>
            <a:ext cx="733115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3199418" y="6606480"/>
            <a:ext cx="3945582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3428018" y="6312694"/>
            <a:ext cx="383535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** 2</a:t>
            </a:r>
            <a:endParaRPr lang="en-US" sz="1950" dirty="0"/>
          </a:p>
        </p:txBody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ARITHMETIC OPERATORS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95650"/>
            <a:ext cx="17602200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968"/>
              </a:lnSpc>
              <a:buNone/>
            </a:pPr>
            <a:r>
              <a:rPr lang="en-US" sz="16500" b="1" spc="-330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// 2 = 3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143000" y="5848350"/>
            <a:ext cx="787006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always gives a decimal result (7 / 2 = 3.5) — // rounds down to the nearest whole number instead.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321207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Shortcuts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ASSIGNMENT SHORTCUTS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and Assign in One Step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+= adds to a variable and saves the result back into it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shortcut works with -=, *=, /=, and the rest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+= 10     # same as: score = score + 10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508492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and Logic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COMPARISON AND LOGIC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Operators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602236"/>
            <a:ext cx="5908179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333750"/>
            <a:ext cx="5856824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51179" y="3602236"/>
            <a:ext cx="10093821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279779" y="3333750"/>
            <a:ext cx="10168036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4043660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745111"/>
            <a:ext cx="5856824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051179" y="4043660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279779" y="3745111"/>
            <a:ext cx="10168036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to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4470797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77010"/>
            <a:ext cx="585682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!=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051179" y="4470797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279779" y="4177010"/>
            <a:ext cx="1016803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equal to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897934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604147"/>
            <a:ext cx="585682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051179" y="4897934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279779" y="4604147"/>
            <a:ext cx="1016803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5325070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031284"/>
            <a:ext cx="585682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7051179" y="5325070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279779" y="5031284"/>
            <a:ext cx="1016803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43000" y="5752207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458420"/>
            <a:ext cx="585682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&gt;=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051179" y="5752207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279779" y="5458420"/>
            <a:ext cx="1016803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 or equal to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3000" y="6179344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5885557"/>
            <a:ext cx="585682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&lt;=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7051179" y="6179344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79779" y="5885557"/>
            <a:ext cx="1016803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or equal to</a:t>
            </a:r>
            <a:endParaRPr lang="en-US" sz="19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COMPARISON AND LOGIC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and, or, not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553212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553212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only if both sides are true.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3123158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3026353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&gt;= 18 and has_id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629400" y="3190875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3425577"/>
            <a:ext cx="553212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629400" y="3931741"/>
            <a:ext cx="553212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if at least one side is true.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629400" y="4190851"/>
            <a:ext cx="3709690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6724650" y="4209901"/>
            <a:ext cx="3630481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is_weekend or is_holiday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3190875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3425577"/>
            <a:ext cx="553212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115800" y="3931741"/>
            <a:ext cx="553212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Flips a value to its opposite.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115800" y="4190851"/>
            <a:ext cx="2243435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8" name="Text 16"/>
          <p:cNvSpPr/>
          <p:nvPr/>
        </p:nvSpPr>
        <p:spPr>
          <a:xfrm>
            <a:off x="12211050" y="4209901"/>
            <a:ext cx="2129135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is_raining</a:t>
            </a:r>
            <a:endParaRPr lang="en-US" sz="2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047208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Operations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STRING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Strings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joins two strings together, end to end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repeats a string a given number of times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= "Hello, " + "Ana"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= "-" * 20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STRING OPERATIONS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Text With f-strings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an f right before the opening quote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any variable in curly braces to drop its value into the text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"Ana"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print(f"Hello, {name}!")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writing a few lines of your own — a simple calculator is a great place to start.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100138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2026-08-21T00:11:40Z</dcterms:created>
  <dcterms:modified xsi:type="dcterms:W3CDTF">2026-08-21T00:11:40Z</dcterms:modified>
</cp:coreProperties>
</file>